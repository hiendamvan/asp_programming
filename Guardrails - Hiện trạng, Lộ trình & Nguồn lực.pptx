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F1B6BB-858A-4927-8372-E110341861D7}">
  <a:tblStyle styleId="{C8F1B6BB-858A-4927-8372-E110341861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4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734050"/>
            <a:ext cx="10972800" cy="723900"/>
          </a:xfrm>
          <a:prstGeom prst="roundRect">
            <a:avLst>
              <a:gd fmla="val 1578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1457325"/>
            <a:ext cx="5334000" cy="4276725"/>
          </a:xfrm>
          <a:prstGeom prst="roundRect">
            <a:avLst>
              <a:gd fmla="val 35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248400" y="1457325"/>
            <a:ext cx="5334000" cy="4276725"/>
          </a:xfrm>
          <a:prstGeom prst="roundRect">
            <a:avLst>
              <a:gd fmla="val 35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572452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9600" y="1457325"/>
            <a:ext cx="533400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09600" y="1457325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934075" y="1457325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48400" y="572452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248400" y="1457325"/>
            <a:ext cx="533400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248400" y="1457325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1572875" y="1457325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8383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183832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231457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31432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925" y="39719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48006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2725" y="2314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2725" y="31432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2725" y="39719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2725" y="48006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ĐÁNH GIÁ HỆ THỐNG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09600" y="695325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Guardrails - Hiện trạng và bài toán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-238125" y="5962650"/>
            <a:ext cx="1266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"Rủi ro tăng theo số ứng dụng, nhưng mỗi team đang tự xử lý, không có chuẩn chung và không đo lường được."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247775" y="1819275"/>
            <a:ext cx="58357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Thực trạng rủi ro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858000" y="1819275"/>
            <a:ext cx="533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Cách làm hiện tại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295400" y="2295525"/>
            <a:ext cx="5417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Ứng dụng LLM tăng vọt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295400" y="2533650"/>
            <a:ext cx="4429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[XXX]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app lên production, </a:t>
            </a:r>
            <a:r>
              <a:rPr b="0" i="0" lang="en-US" sz="112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[YYY]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request/ngày. Xử lý nhiều dữ liệu nhạy cảm.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266825" y="3124200"/>
            <a:ext cx="5453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Điểm mù bảo mật &amp; Rủi ro output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266825" y="3362325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Nguy cơ Prompt injection (từ user/RAG), Agent gọi tool sai mục đích. Output có thể độc hại, bịa thông tin.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1295400" y="3952875"/>
            <a:ext cx="5417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Rủi ro tuân thủ dữ liệu (PII)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1295400" y="4191000"/>
            <a:ext cx="4429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Nguy cơ lộ CCCD, SĐT, số tài khoản. Yêu cầu audit khắt khe nhưng chưa có log chứng minh tuân thủ.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1314450" y="4781550"/>
            <a:ext cx="5393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Hạn chế giải pháp thị trường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1314450" y="5019675"/>
            <a:ext cx="4410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Chủ yếu tối ưu tiếng Anh, chưa được đánh giá/đảm bảo độ chính xác trên tập dữ liệu tiếng Việt.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905625" y="2295525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Phân mảnh, thiếu đồng bộ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6905625" y="2533650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Mỗi team tự làm bộ lọc (regex, dặn prompt). Nhiều ứng dụng chưa có lớp kiểm soát chuẩn.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6905625" y="3124200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Phạm vi kiểm soát mỏng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905625" y="3362325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Chỉ lọc câu hỏi đầu vào, bỏ sót hoàn toàn rủi ro từ dữ liệu RAG và kết quả Tool trả về.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6905625" y="3952875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Thiếu đo lường tập trung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6905625" y="4191000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Không thống kê được số liệu tấn công, lộ PII, hay tỷ lệ chặn nhầm trên toàn hệ thống.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6905625" y="4781550"/>
            <a:ext cx="5286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Lãng phí nguồn lực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905625" y="5019675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Công sức lặp lại ở nhiều team, chất lượng phòng thủ không đồng đều.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/>
          <p:nvPr/>
        </p:nvSpPr>
        <p:spPr>
          <a:xfrm>
            <a:off x="609600" y="6942832"/>
            <a:ext cx="10972800" cy="609600"/>
          </a:xfrm>
          <a:prstGeom prst="roundRect">
            <a:avLst>
              <a:gd fmla="val 18750" name="adj"/>
            </a:avLst>
          </a:prstGeom>
          <a:solidFill>
            <a:srgbClr val="E0E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8905875" y="457200"/>
            <a:ext cx="2676525" cy="1285875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09600" y="2047875"/>
            <a:ext cx="5372100" cy="2361753"/>
          </a:xfrm>
          <a:prstGeom prst="roundRect">
            <a:avLst>
              <a:gd fmla="val 4839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6210300" y="2047875"/>
            <a:ext cx="5372100" cy="2361753"/>
          </a:xfrm>
          <a:prstGeom prst="roundRect">
            <a:avLst>
              <a:gd fmla="val 483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09600" y="4714428"/>
            <a:ext cx="3505200" cy="1999803"/>
          </a:xfrm>
          <a:prstGeom prst="roundRect">
            <a:avLst>
              <a:gd fmla="val 57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343400" y="4714428"/>
            <a:ext cx="3505200" cy="1999803"/>
          </a:xfrm>
          <a:prstGeom prst="roundRect">
            <a:avLst>
              <a:gd fmla="val 57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077200" y="4714428"/>
            <a:ext cx="3505200" cy="1999803"/>
          </a:xfrm>
          <a:prstGeom prst="roundRect">
            <a:avLst>
              <a:gd fmla="val 571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9600" y="2047875"/>
            <a:ext cx="38100" cy="236175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210300" y="2047875"/>
            <a:ext cx="38100" cy="236175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847725" y="4590603"/>
            <a:ext cx="1381125" cy="276225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4581525" y="4590603"/>
            <a:ext cx="1343025" cy="27622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8315325" y="4590603"/>
            <a:ext cx="1228725" cy="276225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866775"/>
            <a:ext cx="1905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1123950"/>
            <a:ext cx="1905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1381125"/>
            <a:ext cx="1905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" y="273367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" y="306124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" y="3388816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" y="371638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450" y="404395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73367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06124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388816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71638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404395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5143053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568389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601146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6339036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8675" y="5143053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8675" y="547062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8675" y="579819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8675" y="612576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2475" y="5143053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2475" y="547062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2475" y="6011465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/>
          <p:nvPr/>
        </p:nvSpPr>
        <p:spPr>
          <a:xfrm>
            <a:off x="-261937" y="7133332"/>
            <a:ext cx="127158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"Foundation xây một lần, mọi team dùng chung và tự cấu hình theo nghiệp vụ."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609600" y="457200"/>
            <a:ext cx="952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KIẾN TRÚC &amp; PHÂN VAI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609600" y="695325"/>
            <a:ext cx="10001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Định vị Foundation &amp; Sản phẩm release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609600" y="1228725"/>
            <a:ext cx="7715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Xây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Nền tảng Guardrail dùng chung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(MaaS) tại tầng LLM Gateway để phủ mọi model, mọi use case. Log tập trung vào Langfuse. Đa lớp phòng thủ (Input, Output, RAG, Agent).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9144000" y="619125"/>
            <a:ext cx="2750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MỤC TIÊU KPI CHÍNH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876300" y="2276475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Trách nhiệm Team Foundation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6477000" y="227647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Trách nhiệm Team Use-case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1000125" y="4647753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R1: Nền tảng lõi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4733925" y="4647753"/>
            <a:ext cx="1133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R2: Tự phục vụ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8467725" y="4647753"/>
            <a:ext cx="10191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R3: Nâng cao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9144000" y="847725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Độ phủ: % app qua guardrail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9144000" y="1104900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Sai số chặn nhầm &lt; 1-2%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9144000" y="1362075"/>
            <a:ext cx="2750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Onboard use-case: Vài ngày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1104900" y="2657475"/>
            <a:ext cx="5867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Xây dựng Engine guardrail tích hợp Gateway.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1104900" y="2985045"/>
            <a:ext cx="5867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Cung cấp bộ lọc dùng chung cho tiếng Việt.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1104900" y="3312616"/>
            <a:ext cx="5867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Thiết lập Baseline bảo mật, pháp chế bắt buộc.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1104900" y="3640187"/>
            <a:ext cx="5867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Cung cấp Khung chính sách &amp; cơ chế plugin.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1104900" y="3967757"/>
            <a:ext cx="5867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Cung cấp bộ test, công cụ đánh giá, dashboard.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6705600" y="2657475"/>
            <a:ext cx="5486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Sử dụng qua Gateway,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không sửa code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6705600" y="2985045"/>
            <a:ext cx="5486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Lựa chọn bộ lọc bổ sung, thiết lập ngưỡng.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6705600" y="3312616"/>
            <a:ext cx="5486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Tuân thủ baseline (chỉ được phép siết chặt thêm).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6705600" y="3640187"/>
            <a:ext cx="5486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Tự định nghĩa rule nghiệp vụ riêng (plugin).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6705600" y="3967757"/>
            <a:ext cx="54864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Theo dõi ứng dụng qua Dashboard riêng.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76325" y="5066853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 engine tích hợp LLM Gateway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1076325" y="5607694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Bộ lọc PII tiếng Việt &amp; prompt injection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1076325" y="5935265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Baseline bắt buộc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1076325" y="6262836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cơ bản &amp; bộ test TV v1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4810125" y="5066853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Khung chính sách dạng cấu hình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4810125" y="5394424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Cơ chế plugin cho rule riêng của team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4810125" y="5721994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Bộ lọc nội dung độc hại, lộ thông tin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4810125" y="6049565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Shadow mode &amp; tài liệu onboard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8543925" y="5066853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 cho RAG và Agent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8543925" y="5394424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Bộ lọc LLM-judge theo mô tả chính sách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8543925" y="5935265"/>
            <a:ext cx="35575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Red-team định kỳ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609600" y="2124075"/>
            <a:ext cx="3505200" cy="4487019"/>
          </a:xfrm>
          <a:prstGeom prst="roundRect">
            <a:avLst>
              <a:gd fmla="val 3260" name="adj"/>
            </a:avLst>
          </a:prstGeom>
          <a:solidFill>
            <a:srgbClr val="FAFA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343400" y="2124075"/>
            <a:ext cx="3505200" cy="4487019"/>
          </a:xfrm>
          <a:prstGeom prst="roundRect">
            <a:avLst>
              <a:gd fmla="val 3260" name="adj"/>
            </a:avLst>
          </a:prstGeom>
          <a:solidFill>
            <a:srgbClr val="FAFA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8077200" y="2124075"/>
            <a:ext cx="3505200" cy="4487019"/>
          </a:xfrm>
          <a:prstGeom prst="roundRect">
            <a:avLst>
              <a:gd fmla="val 3260" name="adj"/>
            </a:avLst>
          </a:prstGeom>
          <a:solidFill>
            <a:srgbClr val="FAFAFA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847725" y="2000250"/>
            <a:ext cx="2328862" cy="276225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4581525" y="2000250"/>
            <a:ext cx="2124075" cy="27622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8315325" y="2000250"/>
            <a:ext cx="2314575" cy="276225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3067050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3859262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4438203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523041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602262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675" y="3067050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675" y="3859262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675" y="465147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675" y="523041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8675" y="602262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475" y="3067050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475" y="3859262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475" y="4651474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475" y="5230415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2475" y="5809357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KẾ HOẠCH TRIỂN KHAI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609600" y="695325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Giao phẩm chi tiết theo Release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609600" y="1228725"/>
            <a:ext cx="7715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Lưu ý: Mốc thời gian là ước tính ban đầu, sẽ chốt lại sau khi hoàn thành khảo sát và đo baseline.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1000125" y="2057400"/>
            <a:ext cx="2119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R1: NỀN TẢNG LÕI (6-8 Tuần)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847725" y="2438400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Mục tiêu: Chạy thực tế trên Gateway, bảo vệ 1-2 pilot use-case.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4733925" y="2057400"/>
            <a:ext cx="1914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R2: TỰ PHỤC VỤ (2 Tháng)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4581525" y="2438400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Mục tiêu: Các team tự onboard, tự cấu hình policy an toàn.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8467725" y="2057400"/>
            <a:ext cx="2105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R3: NÂNG CAO (Các quý sau)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8315325" y="2438400"/>
            <a:ext cx="3124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Mục tiêu: Phủ sóng xử lý rủi ro phức tạp (RAG &amp; Agent).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1076325" y="2990850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Khảo sát &amp; Tích hợp: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Chốt pilot. Tích hợp cấu hình LiteLLM (pre/post call, không sửa code app).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1076325" y="3783062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 Engine v1: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API service độc lập, fail-open/closed bảo vệ Gateway.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1076325" y="4362003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Bộ lọc Tiếng Việt: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Lọc PII (CCCD, SĐT...) và Prompt injection (chặn nhầm &lt;1-2%).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1076325" y="5154215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Baseline &amp; Test: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Ban hành chính sách bắt buộc. Bộ test vài nghìn mẫu có nhãn.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1076325" y="5946427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Pilot: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 kết quả, tỷ lệ chặn/che, độ trễ.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4810125" y="2990850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Khung cấu hình YAML: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Phân quyền theo API key. Ứng dụng không tự tắt được guardrail.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4810125" y="3783062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Cơ chế Plugin: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Hỗ trợ đưa Rule riêng (webhook) lên production, có cơ chế cô lập lỗi (timeout).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4810125" y="4575274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Mở rộng bộ lọc: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Nội dung độc hại, lộ secret/system prompt, URL đáng ngờ.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4810125" y="5154215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Onboard Tooling: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Chạy Shadow mode. Bộ công cụ tự đánh giá chính sách trước khi bật.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4810125" y="5946427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Phân quyền: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Team tự theo dõi số liệu riêng.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8543925" y="2990850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 RAG: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Quét tài liệu truy xuất, kiểm tra độ bám nguồn (chống ảo giác).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8543925" y="3783062"/>
            <a:ext cx="2895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Guardrail Agent: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Kiểm tra tool call lệch mục tiêu; bắt buộc xác nhận user hành động rủi ro.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8543925" y="4575274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Policy bằng văn bản: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Dùng LLM-judge cấu hình luật lọc qua mô tả tự nhiên.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8543925" y="5154215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Red-team định kỳ: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Tấn công chéo cập nhật mẫu mới vào tập test.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8543925" y="5733157"/>
            <a:ext cx="2895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Thư viện Rule chung: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Đóng gói các rule phổ biến từ các team.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/>
          <p:nvPr/>
        </p:nvSpPr>
        <p:spPr>
          <a:xfrm>
            <a:off x="7479357" y="1790700"/>
            <a:ext cx="4103042" cy="1697087"/>
          </a:xfrm>
          <a:prstGeom prst="roundRect">
            <a:avLst>
              <a:gd fmla="val 898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7479357" y="3716387"/>
            <a:ext cx="4103042" cy="2336899"/>
          </a:xfrm>
          <a:prstGeom prst="roundRect">
            <a:avLst>
              <a:gd fmla="val 65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479357" y="6281886"/>
            <a:ext cx="4103042" cy="1666875"/>
          </a:xfrm>
          <a:prstGeom prst="roundRect">
            <a:avLst>
              <a:gd fmla="val 9142" name="adj"/>
            </a:avLst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14362" y="2457450"/>
            <a:ext cx="229433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2908696" y="2457450"/>
            <a:ext cx="294992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858619" y="2457450"/>
            <a:ext cx="13111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479357" y="7939236"/>
            <a:ext cx="4103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7479357" y="6281886"/>
            <a:ext cx="41030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7479357" y="6281886"/>
            <a:ext cx="38100" cy="16668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1572875" y="6281886"/>
            <a:ext cx="9525" cy="1666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614362" y="3342382"/>
            <a:ext cx="2294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2908696" y="3342382"/>
            <a:ext cx="2949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5858619" y="3342382"/>
            <a:ext cx="131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614362" y="4211984"/>
            <a:ext cx="2294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2908696" y="4211984"/>
            <a:ext cx="2949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5858619" y="4211984"/>
            <a:ext cx="131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14362" y="5325070"/>
            <a:ext cx="2294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2908696" y="5325070"/>
            <a:ext cx="2949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5858619" y="5325070"/>
            <a:ext cx="131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14362" y="6194673"/>
            <a:ext cx="2294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2908696" y="6194673"/>
            <a:ext cx="2949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5858619" y="6194673"/>
            <a:ext cx="131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614362" y="7064275"/>
            <a:ext cx="2294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2908696" y="7064275"/>
            <a:ext cx="29499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5858619" y="7064275"/>
            <a:ext cx="13111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482" y="204311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7482" y="396879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46057" y="653429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2457450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2785020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3112591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4383137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4923978"/>
            <a:ext cx="5715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4632" y="5464819"/>
            <a:ext cx="5715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/>
          <p:nvPr/>
        </p:nvSpPr>
        <p:spPr>
          <a:xfrm>
            <a:off x="609600" y="1790700"/>
            <a:ext cx="6564957" cy="615806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16"/>
          <p:cNvGraphicFramePr/>
          <p:nvPr/>
        </p:nvGraphicFramePr>
        <p:xfrm>
          <a:off x="609600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{C8F1B6BB-858A-4927-8372-E110341861D7}</a:tableStyleId>
              </a:tblPr>
              <a:tblGrid>
                <a:gridCol w="2294325"/>
                <a:gridCol w="2949925"/>
                <a:gridCol w="1311175"/>
              </a:tblGrid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Vai trò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Trách nhiệm chính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FTE / Mức tham 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 Eng - Guardrail Lead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(Owner)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Kiến trúc, engine cốt lõi, phát triển bộ lọc, đánh giá, điều phối tổng thể.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(R1-R3)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 Eng / Backend Eng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9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(Đề xuất bổ sung)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Xây khung chính sách, cơ chế plugin, phân quyền API, tích hợp dashboard.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</a:t>
                      </a: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(Từ R2)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MLOps (Gateway/Serving/Obs)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Cấu hình LiteLLM, host model classifier, autoscaling, log Langfuse, trace.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10-20%</a:t>
                      </a: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(R1-R2)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Annotator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Xây dựng &amp; gán nhãn tập test tiếng Việt.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~0.5 FTE</a:t>
                      </a: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(2-3 tuần R1)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Scientist / Modeling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Đánh giá model classifier, finetune model tiếng Việt nếu cần.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10-20%</a:t>
                      </a: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(R2-R3)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/ Legal / Use-case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Duyệt baseline, tham gia red-team, pilot shadow mode.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Theo mốc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TỔ CHỨC NGUỒN LỰC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609600" y="695325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Tổ chức Nhân sự &amp; Hạ tầng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609600" y="1228725"/>
            <a:ext cx="9525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Nguyên tắc: 1 Owner chịu trách nhiệm chính, các thành viên khác đóng góp theo domain.</a:t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8012757" y="2028825"/>
            <a:ext cx="41792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Ước tính quy mô</a:t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7965132" y="3954512"/>
            <a:ext cx="42268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Hạ tầng &amp; Vận hành</a:t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7993707" y="6520011"/>
            <a:ext cx="419829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Rủi ro dự án</a:t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7746057" y="6834336"/>
            <a:ext cx="3693467" cy="23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1. Bottleneck nhân sự:</a:t>
            </a:r>
            <a:r>
              <a:rPr b="0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 Chỉ 1 người làm chính, R2 sẽ trễ tiến độ nếu không bổ sung kỹ sư Backend/ML.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7746057" y="7310586"/>
            <a:ext cx="3693467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2. Đánh giá KPI:</a:t>
            </a:r>
            <a:r>
              <a:rPr b="0" i="0" lang="en-US" sz="1050" u="none" cap="none" strike="noStrike">
                <a:solidFill>
                  <a:srgbClr val="92400E"/>
                </a:solidFill>
                <a:latin typeface="Inter"/>
                <a:ea typeface="Inter"/>
                <a:cs typeface="Inter"/>
                <a:sym typeface="Inter"/>
              </a:rPr>
              <a:t> Phụ thuộc vào chất lượng tập test. Thiếu người gán nhãn sẽ làm sai lệch tỷ lệ chặn nhầm.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7946082" y="2381250"/>
            <a:ext cx="424591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R1: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~1.5 - 2.0 FTE</a:t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7946082" y="2708820"/>
            <a:ext cx="424591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R2: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~2.5 FTE (Cần bổ sung Backend)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7946082" y="3036391"/>
            <a:ext cx="424591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R3: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~2.0 FTE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7946082" y="4306937"/>
            <a:ext cx="3493442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GPU cho Model Guardrail: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Sizing tài nguyên dựa trên lượng request pilot (R1).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7946082" y="4847778"/>
            <a:ext cx="3493442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Môi trường Staging: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Chạy Shadow mode &amp; test tích hợp an toàn.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7946082" y="5388619"/>
            <a:ext cx="3493442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License LiteLLM: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Chốt phiên bản OSS hoặc Enterprise (ảnh hưởng tính năng phân quyền).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